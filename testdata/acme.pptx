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468880"/>
            <a:ext cx="8534400" cy="1097280"/>
          </a:xfrm>
        </p:spPr>
        <p:txBody>
          <a:bodyPr/>
          <a:lstStyle/>
          <a:p>
            <a:pPr algn="l"/>
            <a:r>
              <a:rPr sz="4400" b="1">
                <a:solidFill>
                  <a:srgbClr val="FFFFFF"/>
                </a:solidFill>
              </a:rPr>
              <a:t>Acme Growth Strategy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703320"/>
            <a:ext cx="7315200" cy="548640"/>
          </a:xfrm>
        </p:spPr>
        <p:txBody>
          <a:bodyPr/>
          <a:lstStyle/>
          <a:p>
            <a:pPr algn="l"/>
            <a:r>
              <a:rPr sz="2000">
                <a:solidFill>
                  <a:srgbClr val="E94560"/>
                </a:solidFill>
              </a:rPr>
              <a:t>Board review - Q3 update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5120" y="6103620"/>
            <a:ext cx="1219200" cy="4800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6240780"/>
            <a:ext cx="121920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8FA3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728960" cy="822960"/>
          </a:xfrm>
        </p:spPr>
        <p:txBody>
          <a:bodyPr/>
          <a:lstStyle/>
          <a:p>
            <a:pPr algn="l"/>
            <a:r>
              <a:rPr sz="3600" b="1">
                <a:solidFill>
                  <a:srgbClr val="1A1A2E"/>
                </a:solidFill>
              </a:rPr>
              <a:t>Why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08760"/>
            <a:ext cx="5120640" cy="4389120"/>
          </a:xfrm>
        </p:spPr>
        <p:txBody>
          <a:bodyPr/>
          <a:lstStyle/>
          <a:p>
            <a:r>
              <a:rPr sz="1800">
                <a:solidFill>
                  <a:srgbClr val="1A1A2E"/>
                </a:solidFill>
              </a:rPr>
              <a:t>Market grew 38% YoY</a:t>
            </a:r>
          </a:p>
          <a:p>
            <a:r>
              <a:rPr sz="1800">
                <a:solidFill>
                  <a:srgbClr val="1A1A2E"/>
                </a:solidFill>
              </a:rPr>
              <a:t>Competitors consolidating</a:t>
            </a:r>
          </a:p>
          <a:p>
            <a:r>
              <a:rPr sz="1800">
                <a:solidFill>
                  <a:srgbClr val="1A1A2E"/>
                </a:solidFill>
              </a:rPr>
              <a:t>Our CAC dropped by half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840" y="1508760"/>
            <a:ext cx="5120640" cy="438912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5120" y="6103620"/>
            <a:ext cx="1219200" cy="4800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6240780"/>
            <a:ext cx="121920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8FA3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728960" cy="822960"/>
          </a:xfrm>
        </p:spPr>
        <p:txBody>
          <a:bodyPr/>
          <a:lstStyle/>
          <a:p>
            <a:pPr algn="l"/>
            <a:r>
              <a:rPr sz="3600" b="1">
                <a:solidFill>
                  <a:srgbClr val="1A1A2E"/>
                </a:solidFill>
              </a:rPr>
              <a:t>Q3 at a glance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194560"/>
            <a:ext cx="3413759" cy="2057400"/>
          </a:xfrm>
          <a:prstGeom prst="roundRect">
            <a:avLst/>
          </a:prstGeom>
          <a:solidFill>
            <a:srgbClr val="F4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5360" y="2468880"/>
            <a:ext cx="2926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E94560"/>
                </a:solidFill>
              </a:rPr>
              <a:t>42%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60" y="3429000"/>
            <a:ext cx="29260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8A8FA3"/>
                </a:solidFill>
              </a:rPr>
              <a:t>Revenue growth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194560"/>
            <a:ext cx="3413759" cy="2057400"/>
          </a:xfrm>
          <a:prstGeom prst="roundRect">
            <a:avLst/>
          </a:prstGeom>
          <a:solidFill>
            <a:srgbClr val="F4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32960" y="2468880"/>
            <a:ext cx="2926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E94560"/>
                </a:solidFill>
              </a:rPr>
              <a:t>1.2M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32960" y="3429000"/>
            <a:ext cx="29260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8A8FA3"/>
                </a:solidFill>
              </a:rPr>
              <a:t>Active users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19" y="2194560"/>
            <a:ext cx="3413759" cy="2057400"/>
          </a:xfrm>
          <a:prstGeom prst="roundRect">
            <a:avLst/>
          </a:prstGeom>
          <a:solidFill>
            <a:srgbClr val="F4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0559" y="2468880"/>
            <a:ext cx="2926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E94560"/>
                </a:solidFill>
              </a:rPr>
              <a:t>98.9%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90559" y="3429000"/>
            <a:ext cx="29260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8A8FA3"/>
                </a:solidFill>
              </a:rPr>
              <a:t>Uptime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5120" y="6103620"/>
            <a:ext cx="1219200" cy="4800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6240780"/>
            <a:ext cx="121920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8FA3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728960" cy="822960"/>
          </a:xfrm>
        </p:spPr>
        <p:txBody>
          <a:bodyPr/>
          <a:lstStyle/>
          <a:p>
            <a:pPr algn="l"/>
            <a:r>
              <a:rPr sz="3600" b="1">
                <a:solidFill>
                  <a:srgbClr val="1A1A2E"/>
                </a:solidFill>
              </a:rPr>
              <a:t>Product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08760"/>
            <a:ext cx="5120640" cy="4389120"/>
          </a:xfrm>
        </p:spPr>
        <p:txBody>
          <a:bodyPr/>
          <a:lstStyle/>
          <a:p>
            <a:r>
              <a:rPr sz="1800">
                <a:solidFill>
                  <a:srgbClr val="1A1A2E"/>
                </a:solidFill>
              </a:rPr>
              <a:t>Self-serve onboarding</a:t>
            </a:r>
          </a:p>
          <a:p>
            <a:r>
              <a:rPr sz="1800">
                <a:solidFill>
                  <a:srgbClr val="1A1A2E"/>
                </a:solidFill>
              </a:rPr>
              <a:t>Enterprise SSO</a:t>
            </a:r>
          </a:p>
          <a:p>
            <a:r>
              <a:rPr sz="1800">
                <a:solidFill>
                  <a:srgbClr val="1A1A2E"/>
                </a:solidFill>
              </a:rPr>
              <a:t>Usage-based pricing</a:t>
            </a:r>
          </a:p>
          <a:p>
            <a:r>
              <a:rPr sz="1800">
                <a:solidFill>
                  <a:srgbClr val="1A1A2E"/>
                </a:solidFill>
              </a:rPr>
              <a:t>EU data residency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840" y="1508760"/>
            <a:ext cx="5120640" cy="438912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5120" y="6103620"/>
            <a:ext cx="1219200" cy="4800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6240780"/>
            <a:ext cx="121920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8FA3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728960" cy="822960"/>
          </a:xfrm>
        </p:spPr>
        <p:txBody>
          <a:bodyPr/>
          <a:lstStyle/>
          <a:p>
            <a:pPr algn="l"/>
            <a:r>
              <a:rPr sz="3600" b="1">
                <a:solidFill>
                  <a:srgbClr val="1A1A2E"/>
                </a:solidFill>
              </a:rPr>
              <a:t>Regional performance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508760"/>
          <a:ext cx="1072896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  <a:gridCol w="2682240"/>
              </a:tblGrid>
              <a:tr h="85725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Region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Revenue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Growth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NPS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</a:rPr>
                        <a:t>North America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</a:rPr>
                        <a:t>$12.4M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</a:rPr>
                        <a:t>+31%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</a:rPr>
                        <a:t>62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</a:rPr>
                        <a:t>Europe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</a:rPr>
                        <a:t>$8.1M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</a:rPr>
                        <a:t>+44%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</a:rPr>
                        <a:t>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</a:rPr>
                        <a:t>APAC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</a:rPr>
                        <a:t>$4.9M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</a:rPr>
                        <a:t>+52%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</a:rPr>
                        <a:t>55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5120" y="6103620"/>
            <a:ext cx="1219200" cy="4800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6240780"/>
            <a:ext cx="121920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8FA3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728960" cy="822960"/>
          </a:xfrm>
        </p:spPr>
        <p:txBody>
          <a:bodyPr/>
          <a:lstStyle/>
          <a:p>
            <a:pPr algn="l"/>
            <a:r>
              <a:rPr sz="3600" b="1">
                <a:solidFill>
                  <a:srgbClr val="1A1A2E"/>
                </a:solidFill>
              </a:rPr>
              <a:t>Unit economics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194560"/>
            <a:ext cx="2499360" cy="2057400"/>
          </a:xfrm>
          <a:prstGeom prst="roundRect">
            <a:avLst/>
          </a:prstGeom>
          <a:solidFill>
            <a:srgbClr val="F4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5360" y="2468880"/>
            <a:ext cx="2011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E94560"/>
                </a:solidFill>
              </a:rPr>
              <a:t>$38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60" y="342900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8A8FA3"/>
                </a:solidFill>
              </a:rPr>
              <a:t>CAC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2194560"/>
            <a:ext cx="2499360" cy="2057400"/>
          </a:xfrm>
          <a:prstGeom prst="roundRect">
            <a:avLst/>
          </a:prstGeom>
          <a:solidFill>
            <a:srgbClr val="F4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18560" y="2468880"/>
            <a:ext cx="2011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E94560"/>
                </a:solidFill>
              </a:rPr>
              <a:t>$410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18560" y="342900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8A8FA3"/>
                </a:solidFill>
              </a:rPr>
              <a:t>LTV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94560"/>
            <a:ext cx="2499360" cy="2057400"/>
          </a:xfrm>
          <a:prstGeom prst="roundRect">
            <a:avLst/>
          </a:prstGeom>
          <a:solidFill>
            <a:srgbClr val="F4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1760" y="2468880"/>
            <a:ext cx="2011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E94560"/>
                </a:solidFill>
              </a:rPr>
              <a:t>10.8x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1760" y="342900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8A8FA3"/>
                </a:solidFill>
              </a:rPr>
              <a:t>LTV / CAC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2194560"/>
            <a:ext cx="2499360" cy="2057400"/>
          </a:xfrm>
          <a:prstGeom prst="roundRect">
            <a:avLst/>
          </a:prstGeom>
          <a:solidFill>
            <a:srgbClr val="F4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04960" y="2468880"/>
            <a:ext cx="2011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E94560"/>
                </a:solidFill>
              </a:rPr>
              <a:t>7 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04960" y="342900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8A8FA3"/>
                </a:solidFill>
              </a:rPr>
              <a:t>Payback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5120" y="6103620"/>
            <a:ext cx="1219200" cy="4800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6240780"/>
            <a:ext cx="121920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8FA3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728960" cy="822960"/>
          </a:xfrm>
        </p:spPr>
        <p:txBody>
          <a:bodyPr/>
          <a:lstStyle/>
          <a:p>
            <a:pPr algn="l"/>
            <a:r>
              <a:rPr sz="3600" b="1">
                <a:solidFill>
                  <a:srgbClr val="1A1A2E"/>
                </a:solidFill>
              </a:rPr>
              <a:t>Go-to-market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08760"/>
            <a:ext cx="5120640" cy="4389120"/>
          </a:xfrm>
        </p:spPr>
        <p:txBody>
          <a:bodyPr/>
          <a:lstStyle/>
          <a:p>
            <a:r>
              <a:rPr sz="1800">
                <a:solidFill>
                  <a:srgbClr val="1A1A2E"/>
                </a:solidFill>
              </a:rPr>
              <a:t>Partner channel in EMEA</a:t>
            </a:r>
          </a:p>
          <a:p>
            <a:r>
              <a:rPr sz="1800">
                <a:solidFill>
                  <a:srgbClr val="1A1A2E"/>
                </a:solidFill>
              </a:rPr>
              <a:t>Vertical playbooks</a:t>
            </a:r>
          </a:p>
          <a:p>
            <a:r>
              <a:rPr sz="1800">
                <a:solidFill>
                  <a:srgbClr val="1A1A2E"/>
                </a:solidFill>
              </a:rPr>
              <a:t>Customer advisory board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840" y="1508760"/>
            <a:ext cx="5120640" cy="438912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5120" y="6103620"/>
            <a:ext cx="1219200" cy="4800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6240780"/>
            <a:ext cx="121920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8FA3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728960" cy="822960"/>
          </a:xfrm>
        </p:spPr>
        <p:txBody>
          <a:bodyPr/>
          <a:lstStyle/>
          <a:p>
            <a:pPr algn="l"/>
            <a:r>
              <a:rPr sz="3600" b="1">
                <a:solidFill>
                  <a:srgbClr val="1A1A2E"/>
                </a:solidFill>
              </a:rPr>
              <a:t>Hiring plan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508760"/>
          <a:ext cx="1072896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  <a:gridCol w="2682240"/>
              </a:tblGrid>
              <a:tr h="11430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Team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Today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Q4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Q1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</a:rPr>
                        <a:t>Engineering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</a:rPr>
                        <a:t>48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</a:rPr>
                        <a:t>56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</a:rPr>
                        <a:t>64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</a:rPr>
                        <a:t>Sales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</a:rP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5120" y="6103620"/>
            <a:ext cx="1219200" cy="4800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6240780"/>
            <a:ext cx="121920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8FA3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468880"/>
            <a:ext cx="8534400" cy="1097280"/>
          </a:xfrm>
        </p:spPr>
        <p:txBody>
          <a:bodyPr/>
          <a:lstStyle/>
          <a:p>
            <a:pPr algn="l"/>
            <a:r>
              <a:rPr sz="44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703320"/>
            <a:ext cx="7315200" cy="548640"/>
          </a:xfrm>
        </p:spPr>
        <p:txBody>
          <a:bodyPr/>
          <a:lstStyle/>
          <a:p>
            <a:pPr algn="l"/>
            <a:r>
              <a:rPr sz="2000">
                <a:solidFill>
                  <a:srgbClr val="E94560"/>
                </a:solidFill>
              </a:rPr>
              <a:t>questions@acme.example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5120" y="6103620"/>
            <a:ext cx="1219200" cy="4800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6240780"/>
            <a:ext cx="121920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8FA3"/>
                </a:solidFill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A1A2E"/>
      </a:dk1>
      <a:lt1>
        <a:srgbClr val="FFFFFF"/>
      </a:lt1>
      <a:dk2>
        <a:srgbClr val="0F3460"/>
      </a:dk2>
      <a:lt2>
        <a:srgbClr val="EEF1F7"/>
      </a:lt2>
      <a:accent1>
        <a:srgbClr val="E94560"/>
      </a:accent1>
      <a:accent2>
        <a:srgbClr val="0F3460"/>
      </a:accent2>
      <a:accent3>
        <a:srgbClr val="16C79A"/>
      </a:accent3>
      <a:accent4>
        <a:srgbClr val="F5A623"/>
      </a:accent4>
      <a:accent5>
        <a:srgbClr val="533483"/>
      </a:accent5>
      <a:accent6>
        <a:srgbClr val="8A8FA3"/>
      </a:accent6>
      <a:hlink>
        <a:srgbClr val="0000FF"/>
      </a:hlink>
      <a:folHlink>
        <a:srgbClr val="800080"/>
      </a:folHlink>
    </a:clrScheme>
    <a:fontScheme name="Office">
      <a:majorFont>
        <a:latin typeface="Montserra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